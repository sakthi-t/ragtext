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026E97-3387-4C32-8086-F91DB46597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4FA986-07ED-4E8A-9C95-9C80A3D7EA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6202CC0-5E6E-40AF-9F93-4616E0E0C0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569F0B5-02D1-4DF6-87F0-4C6EBEAA7A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F6ECD5C-D777-4D33-AF00-2BC03B0F7B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976E066-6242-47F6-BC11-F80394FCAF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8D9F6AC-81A7-40FA-BAC0-8A5D937444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0FE4383-99C2-466B-9368-96BD8026F20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A1BCDE0-7C12-4936-9EC6-4D615A56C2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4C93D17-446C-4C45-B049-A9A6588602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D303601-B25B-414D-B9A2-42708BAAB8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C97C80-D9AD-48EA-B452-AC77FF0980B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C5BFBA-F1E0-4132-865E-AA761213E9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E62FCD-39CB-4D6D-A4E9-83C7E9AB36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BDF228-C72A-44DD-A8E5-EC01EA517F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8ABAB1-A957-44FB-9CC8-0B7C594D54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733985-BADD-4FB0-BF44-0C272A7585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A96888-3329-47C9-B605-D9E1747162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E33E9E-0933-4C84-9DBC-581027BECF4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98AED1-6C69-47D8-9BA1-3643A40EBD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633D3C-E383-414F-B651-02DCD8316B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347524-5B08-45A4-8541-7092BA4806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117680" y="2286000"/>
            <a:ext cx="3954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RAG Application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2072520" y="3840480"/>
            <a:ext cx="80463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98c1d9"/>
                </a:solidFill>
                <a:latin typeface="Calibri"/>
              </a:rPr>
              <a:t>Multi-Tenant Document Q&amp;A System with PDF Chat Capabilities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420800" y="274320"/>
            <a:ext cx="33494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Application Overview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RAG application is a multi-tenant web application for chatting with PDF documents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Users can upload private PDFs and ask questions grounded in document content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Admins can upload GLOBAL documents visible to all users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Every conversation is tied to a specific document - no general chat allowed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ChatGPT-like interface with sidebar showing threads and documents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Built with Flask backend and server-rendered templates with JavaScript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Implements RAG (Retrieval Augmented Generation) for accurate responses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Includes LLM-as-Judge evaluation metrics for response quality assessment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381920" y="2926080"/>
            <a:ext cx="3427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Technology Stack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676040" y="274320"/>
            <a:ext cx="2838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Core Technologies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457200" y="1371600"/>
            <a:ext cx="5486040" cy="18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Backend: Flask (Python) - Lightweight WSGI web framework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Database: Neon/Railway Postgres - Serverless PostgreSQL with SQLAlchemy ORM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Vector DB: Chroma Cloud - Managed vector database for embeddings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Object Storage: Backblaze B2 - S3-compatible cloud storage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217920" y="1371600"/>
            <a:ext cx="5486040" cy="16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LLM: OpenAI GPT-4o - Multimodal language model for chat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Embeddings: OpenAI text-embedding-3-large - 3072-dimensional vectors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Auth: Email/Password + GitHub OAuth via Authlib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Background Jobs: APScheduler for document ingestion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334320" y="274320"/>
            <a:ext cx="552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Neon Postgres - Serverless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Serverless PostgreSQL with automatic scaling and branching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Stores all application data: users, documents, threads, messages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SQLAlchemy ORM for Pythonic database interactions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Alembic for database migrations and schema versioning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Connection pooling with pool_pre_ping for reliability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Soft-delete pattern using deleted_at timestamps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UUID primary keys for distributed-friendly IDs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JSONB columns for flexible metadata storage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3623040" y="274320"/>
            <a:ext cx="4944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Chroma Cloud - Vector Database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Managed vector database for storing document embeddings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Stores text chunk embeddings with metadata filtering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Supports similarity search using cosine distance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Metadata includes: document_id, page, chunk_id, scope, owner_user_id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Enables RAG retrieval with top-k similar chunks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Collection-based organization for multi-tenant isolation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Automatic embedding dimension handling (3072-dim for text-embedding-3-large)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Supports deletion by document_id for cleanup operations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3827160" y="274320"/>
            <a:ext cx="4536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Backblaze B2 - Object Storage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S3-compatible cloud storage for PDF files and extracted images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Presigned URLs for secure direct uploads from browser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Path structure: users/&lt;user_id&gt;/documents/&lt;doc_id&gt;/&lt;filename&gt;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Supports large files up to 100MB (configurable)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Cost-effective storage with pay-per-use pricing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boto3 client with path-style addressing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Pagination support for listing/deleting large object sets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Automatic cleanup on document deletion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3699360" y="2926080"/>
            <a:ext cx="4792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Application Architecture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252320" y="274320"/>
            <a:ext cx="3686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Project Folder Structure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457200" y="1371600"/>
            <a:ext cx="5486040" cy="18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 - Main application package with Flask factory pattern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app/models/ - SQLAlchemy database models (User, Document, Thread, etc.)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app/routes/ - Flask blueprints for API endpoints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app/services/ - Business logic layer (auth, RAG, storage, vectors)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6217920" y="1371600"/>
            <a:ext cx="5486040" cy="19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app/templates/ - Jinja2 HTML templates for server-side rendering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app/static/ - CSS, JavaScript, and static assets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app/workers/ - Background job processors (ingestion worker)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migrations/ - Alembic database migration scripts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tests/ - Unit and integration test suite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3623040" y="274320"/>
            <a:ext cx="4944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app/models/ - Database Models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3192480" y="1280160"/>
            <a:ext cx="5806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SQLAlchemy models defining the data schema with relationships and methods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457200" y="1920240"/>
            <a:ext cx="11277000" cy="35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User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Authentication model with email/password, GitHub OAuth, role-based access (user/admin)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Document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PDF document metadata with scope (GLOBAL/USER_PRIVATE/ADMIN_ONLY), B2 object key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Thread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Chat conversation tied to a specific document, belongs to a user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Message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Individual chat message (user/assistant role) with JSONB content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IngestionJob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Background job tracking for PDF processing (QUEUED/RUNNING/DONE/FAILED)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ActivityLog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Audit trail for user actions (login, upload, delete, etc.)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MessageEvaluation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LLM-judge evaluation scores per assistant message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941640" y="274320"/>
            <a:ext cx="4308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app/routes/ - API Endpoints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3929400" y="1280160"/>
            <a:ext cx="4332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Flask blueprints organizing REST API endpoints by domain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457200" y="1920240"/>
            <a:ext cx="11277000" cy="30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auth.py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Login, logout, registration, GitHub OAuth callback, session management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documents.py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Presigned URL generation, upload confirmation, document listing/deletion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threads.py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Thread CRUD operations, list threads by document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chat.py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RAG chat endpoint with streaming SSE, quick chat for testing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admin.py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Admin-only endpoints for user/document management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views.py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Server-rendered HTML pages (login, chat interface, admin panel)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3809880" y="274320"/>
            <a:ext cx="4571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app/services/ - Business Logic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3340440" y="1280160"/>
            <a:ext cx="551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Service classes encapsulating core business logic and external integrations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457200" y="1920240"/>
            <a:ext cx="11277000" cy="30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auth_service.py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User authentication, session management, decorators (@login_required, @admin_required)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storage_service.py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Backblaze B2 operations: presigned URLs, upload, download, delete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vector_service.py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Chroma Cloud operations: upsert embeddings, similarity search, delete by document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ingestion_service.py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PDF processing: text extraction, chunking, embedding generation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rag_service.py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RAG pipeline: context retrieval, prompt assembly, LLM chat with streaming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evaluation_service.py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LLM-as-Judge evaluation: faithfulness, citation precision, groundedness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2472480" y="2926080"/>
            <a:ext cx="72464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RAG Pipeline &amp; Document Processing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273920" y="274320"/>
            <a:ext cx="3643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Document Upload 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457200" y="1371600"/>
            <a:ext cx="1127700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1. Client requests presigned URL: POST /api/uploads/presign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2. Server validates file size (≤100MB) and generates B2 presigned URL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3. Client uploads PDF directly to B2 using presigned URL (PUT)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4. Client confirms upload: POST /api/documents/confirm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5. Server creates Document record and IngestionJob (status=QUEUED)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6. Background worker picks up job and processes PDF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7. Text extracted page-by-page using PyMuPDF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8. Text chunked with configurable size (1000 chars) and overlap (200 chars)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9. Embeddings generated via OpenAI text-embedding-3-large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10. Vectors upserted to Chroma with metadata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4917600" y="274320"/>
            <a:ext cx="2355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RAG Chat 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57200" y="1371600"/>
            <a:ext cx="11277000" cy="39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1. User sends message to POST /api/threads/&lt;id&gt;/chat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2. Query embedding generated from user message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3. Chroma searched for top-k similar chunks (filtered by document_id)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4. Retrieved chunks assembled into context with page citations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5. System prompt instructs LLM to answer only from provided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6. GPT-4o generates response with streaming (Server-Sent Events)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7. Response stored as Message with citations extracted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8. LLM-as-Judge evaluates response quality (faithfulness, groundedness)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9. Evaluation scores stored in MessageEvaluation table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10. Metrics returned to client for display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2913480" y="2926080"/>
            <a:ext cx="6364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LLM-as-Judge Evaluation Metrics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3913200" y="274320"/>
            <a:ext cx="4364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Response Quality Evaluation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457200" y="1371600"/>
            <a:ext cx="11277000" cy="35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LLM-as-Judge approach uses GPT-4o to evaluate response quality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Three key metrics measured for each assistant response: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  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Faithfulness Score (0.0 - 1.0)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  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Citation Precision Score (0.0 - 1.0)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  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Groundedness Score (0.0 - 1.0)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Evaluation runs asynchronously after response generation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Scores stored in MessageEvaluation table for analytics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Displayed in chat UI metrics panel for transparency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Helps identify hallucinations and unsupported claims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676760" y="274320"/>
            <a:ext cx="2837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Faithfulness Score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Measures how accurately the response reflects the source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Evaluates whether claims in the response are supported by retrieved chunks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1.0 = All claims directly supported by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0.5 = Some claims supported, some inferred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0.0 = Response contradicts or ignores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Prompt asks LLM: 'Does the response accurately represent the context?'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Helps detect hallucinations where LLM invents information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Critical for document Q&amp;A where accuracy is paramount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4276080" y="274320"/>
            <a:ext cx="3638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Citation Precision Score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Measures accuracy of page/section citations in the response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Evaluates whether cited pages actually contain the referenced information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1.0 = All citations correctly reference source pages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0.5 = Some citations accurate, some incorrect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0.0 = Citations are fabricated or wrong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Regex extracts page numbers from response (e.g., 'Page 14', 'Pages 4 and 7')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Compares cited pages against retrieved chunk metadata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Ensures users can verify information in original document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495680" y="274320"/>
            <a:ext cx="3200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Groundedness Score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457200" y="1371600"/>
            <a:ext cx="11277000" cy="317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Measures how well the response is grounded in retrieved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Evaluates whether response stays within scope of provided information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1.0 = Response fully grounded, no external knowledge used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0.5 = Partially grounded with some reasonable inferences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Score of 0.0 = Response relies heavily on external knowledge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Prompt asks: 'Is the response answerable from the context alone?'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Penalizes responses that go beyond document content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Ensures RAG system doesn't fall back to general knowledge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3673440" y="2926080"/>
            <a:ext cx="484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Security &amp; Authorization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4555800" y="274320"/>
            <a:ext cx="3079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Authorization Rules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3"/>
          <p:cNvSpPr/>
          <p:nvPr/>
        </p:nvSpPr>
        <p:spPr>
          <a:xfrm>
            <a:off x="457200" y="1371600"/>
            <a:ext cx="5486040" cy="21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Role-based access control: USER and ADMIN roles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Document scopes: GLOBAL (all users), USER_PRIVATE (owner only), ADMIN_ONLY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Users can read: GLOBAL docs, their own docs, their own threads/messages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Admins can: Create GLOBAL/ADMIN_ONLY docs, delete any doc/user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4"/>
          <p:cNvSpPr/>
          <p:nvPr/>
        </p:nvSpPr>
        <p:spPr>
          <a:xfrm>
            <a:off x="6217920" y="1371600"/>
            <a:ext cx="5486040" cy="16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Admin cannot delete themselves (safety measure)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Decorators enforce access: @login_required, @admin_required, @owns_document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Vector search filters by scope and owner_user_id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Activity logging tracks all sensitive operations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3673440" y="2926080"/>
            <a:ext cx="4844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Key Functions Deep Dive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3683160" y="274320"/>
            <a:ext cx="4824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auth_service.py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4205880" y="1280160"/>
            <a:ext cx="3779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Authentication and authorization service methods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457200" y="1920240"/>
            <a:ext cx="11277000" cy="30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create_user(email, password, github_id, role)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Creates new user with hashed password, auto-assigns admin role if email matches ADMIN_EMAIL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authenticate_user(email, password)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Validates credentials using bcrypt, returns User or None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login_user(user)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Sets session variables (user_id, email, role), logs activity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get_current_user()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Retrieves User from session, clears session if user deleted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@login_required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Decorator that attaches user to request.user, returns 401 if not authenticated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@owns_document(allow_global)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Decorator verifying document ownership or admin access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3791520" y="274320"/>
            <a:ext cx="4608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rag_service.py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4256280" y="1280160"/>
            <a:ext cx="3678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RAG pipeline implementation for document Q&amp;A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457200" y="1920240"/>
            <a:ext cx="11277000" cy="25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generate_query_embedding(query_text)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Creates 3072-dim embedding using OpenAI text-embedding-3-large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retrieve_context(query, doc_id, user_id, top_k)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Searches Chroma for similar chunks, returns text_chunks and citations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assemble_prompt(query, context, history)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Builds messages array with system prompt, context, and conversation history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generate_response(messages, stream)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Calls GPT-4o with assembled prompt, supports streaming via SSE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chat(query, doc_id, user_id, history, stream)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Complete RAG flow: retrieve → assemble → generate, returns response with context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348720" y="274320"/>
            <a:ext cx="5493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ingestion_service.py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4462920" y="1280160"/>
            <a:ext cx="3265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PDF processing and embedding generation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457200" y="1920240"/>
            <a:ext cx="11277000" cy="25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process_document(document_id)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Main entry point: downloads PDF, extracts text, chunks, embeds, upserts to Chroma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extract_text_from_pdf(pdf_path)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Uses PyMuPDF to extract text page-by-page, returns list of (page_num, text)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chunk_text(text, chunk_size, overlap)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Splits text into overlapping chunks for better retrieval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generate_embeddings(chunks)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Batch generates embeddings via OpenAI API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update_job_progress(job_id, progress)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Updates IngestionJob progress (0-100) for UI feedback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3558240" y="274320"/>
            <a:ext cx="5074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vector_service.py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4489560" y="1280160"/>
            <a:ext cx="3212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Chroma Cloud vector database operations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457200" y="1920240"/>
            <a:ext cx="11277000" cy="25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upsert_text_embeddings(doc_id, chunks)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Stores text chunk embeddings with metadata (page, chunk_id, scope, owner)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search_text(query_embedding, doc_id, user_id, top_k, is_admin)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Similarity search with permission filtering via _can_access()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delete_by_document(document_id)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Removes all vectors for a document (cleanup on deletion)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_can_access(metadata, user_id, is_admin)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Permission check: GLOBAL=all, USER_PRIVATE=owner/admin, ADMIN_ONLY=admin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_get_collection()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Gets or creates Chroma collection with tenant/database config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3479760" y="274320"/>
            <a:ext cx="5231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storage_service.py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3"/>
          <p:cNvSpPr/>
          <p:nvPr/>
        </p:nvSpPr>
        <p:spPr>
          <a:xfrm>
            <a:off x="4588560" y="1280160"/>
            <a:ext cx="3014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Backblaze B2 object storage operations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457200" y="1920240"/>
            <a:ext cx="11277000" cy="25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generate_presigned_upload_url(object_key, content_type)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Creates time-limited PUT URL for direct browser upload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generate_presigned_download_url(object_key)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Creates time-limited GET URL for secure file access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delete_object(object_key)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Removes single object from B2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delete_objects_by_prefix(prefix)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Paginated deletion of all objects under a prefix (handles &gt;1000 objects)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object_exists(object_key)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HEAD request to check if object exists in bucket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2"/>
          <p:cNvSpPr/>
          <p:nvPr/>
        </p:nvSpPr>
        <p:spPr>
          <a:xfrm>
            <a:off x="3245760" y="274320"/>
            <a:ext cx="5699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evaluation_service.py - Key Functions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4515480" y="1280160"/>
            <a:ext cx="3160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3d5a80"/>
                </a:solidFill>
                <a:latin typeface="Calibri"/>
              </a:rPr>
              <a:t>LLM-as-Judge evaluation implementation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457200" y="1920240"/>
            <a:ext cx="11277000" cy="25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evaluate(response, context)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Main entry: calls all three evaluation methods, returns scores dict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evaluate_faithfulness(response, context)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Prompts GPT-4o to rate accuracy of response vs context (0.0-1.0)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evaluate_citation_precision(response, context)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Extracts cited pages, compares to retrieved chunk pages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evaluate_groundedness(response, context)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Prompts GPT-4o to rate if response stays within context scope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3d5a80"/>
                </a:solidFill>
                <a:latin typeface="Calibri"/>
              </a:rPr>
              <a:t>_extract_score(llm_response)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2d3a4a"/>
                </a:solidFill>
                <a:latin typeface="Calibri"/>
              </a:rPr>
              <a:t>Parses numeric score from LLM evaluation response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4116240" y="2926080"/>
            <a:ext cx="395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Data Flow Diagrams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3811320" y="274320"/>
            <a:ext cx="4568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Upload &amp; Ingestion Data 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3"/>
          <p:cNvSpPr/>
          <p:nvPr/>
        </p:nvSpPr>
        <p:spPr>
          <a:xfrm>
            <a:off x="457200" y="1371600"/>
            <a:ext cx="11277000" cy="35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Browser → POST /api/uploads/presign → Flask validates size → B2 presigned URL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Browser → PUT to B2 presigned URL → PDF stored in B2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Browser → POST /api/documents/confirm → Document + IngestionJob created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APScheduler → Polls QUEUED jobs every 30 seconds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Worker → Downloads PDF from B2 → Extracts text with PyMuPDF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Worker → Chunks text (1000 chars, 200 overlap)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Worker → Generates embeddings via OpenAI API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Worker → Upserts vectors to Chroma with metadata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Worker → Updates job status to DONE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4890240" y="274320"/>
            <a:ext cx="2410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Chat Data Flow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457200" y="1371600"/>
            <a:ext cx="11277000" cy="357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Browser → POST /api/threads/&lt;id&gt;/chat with message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Flask → Validates thread ownership, gets document_id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RAG Service → Generates query embedding (OpenAI)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Vector Service → Searches Chroma for top-k chunks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RAG Service → Assembles prompt with system message + context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RAG Service → Streams response from GPT-4o via SSE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Chat Route → Stores user message and assistant response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Evaluation Service → Runs LLM-as-Judge evaluation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800" spc="-1" strike="noStrike">
                <a:solidFill>
                  <a:srgbClr val="2d3a4a"/>
                </a:solidFill>
                <a:latin typeface="Calibri"/>
              </a:rPr>
              <a:t>Chat Route → Returns response with metrics to browser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"/>
          <p:cNvSpPr/>
          <p:nvPr/>
        </p:nvSpPr>
        <p:spPr>
          <a:xfrm>
            <a:off x="0" y="2743200"/>
            <a:ext cx="12191400" cy="13712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3427920" y="2926080"/>
            <a:ext cx="53352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Summary &amp; Key Takeaways</a:t>
            </a:r>
            <a:endParaRPr b="0" lang="en-IN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913280" y="274320"/>
            <a:ext cx="2364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457200" y="1371600"/>
            <a:ext cx="5486040" cy="16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RAG application demonstrates production-ready RAG architecture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Clean separation of concerns: routes → services → models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Multi-tenant design with role-based access control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Presigned URL pattern for secure, scalable file uploads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6217920" y="1371600"/>
            <a:ext cx="5486040" cy="17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Streaming responses for better user experience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LLM-as-Judge evaluation for response quality assurance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Background job processing for non-blocking PDF ingestion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Comprehensive activity logging for audit trails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Soft-delete pattern for data recovery capabilities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TextBox 2"/>
          <p:cNvSpPr/>
          <p:nvPr/>
        </p:nvSpPr>
        <p:spPr>
          <a:xfrm>
            <a:off x="4432320" y="274320"/>
            <a:ext cx="3326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Technology Summary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457200" y="1371600"/>
            <a:ext cx="5486040" cy="13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Flask + Gunicorn: Lightweight, production-ready web server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Neon Postgres: Serverless database with automatic scaling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Chroma Cloud: Managed vector DB for semantic search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Backblaze B2: Cost-effective S3-compatible storage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6217920" y="1371600"/>
            <a:ext cx="5486040" cy="136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OpenAI GPT-4o: State-of-the-art multimodal LLM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OpenAI Embeddings: High-quality 3072-dim text vectors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APScheduler: Simple background job processing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2d3a4a"/>
                </a:solidFill>
                <a:latin typeface="Calibri"/>
              </a:rPr>
              <a:t>Authlib: OAuth integration for GitHub login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e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4807800" y="2286000"/>
            <a:ext cx="25754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3274920" y="3840480"/>
            <a:ext cx="5641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98c1d9"/>
                </a:solidFill>
                <a:latin typeface="Calibri"/>
              </a:rPr>
              <a:t>RAG Threads - Document Q&amp;A Made Simple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LibreOffice/24.2.1.2$Windows_X86_64 LibreOffice_project/db4def46b0453cc22e2d0305797cf981b68ef5ac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2026-02-05T18:22:09Z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